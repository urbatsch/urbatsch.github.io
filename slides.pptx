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6"/>
  </p:notesMasterIdLst>
  <p:sldIdLst>
    <p:sldId id="364" r:id="rId2"/>
    <p:sldId id="354" r:id="rId3"/>
    <p:sldId id="417" r:id="rId4"/>
    <p:sldId id="41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oudy Old Style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oudy Old Style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oudy Old Style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oudy Old Style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oudy Old Style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oudy Old Style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oudy Old Style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oudy Old Style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oudy Old Style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0E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4" autoAdjust="0"/>
    <p:restoredTop sz="86430" autoAdjust="0"/>
  </p:normalViewPr>
  <p:slideViewPr>
    <p:cSldViewPr>
      <p:cViewPr varScale="1">
        <p:scale>
          <a:sx n="41" d="100"/>
          <a:sy n="41" d="100"/>
        </p:scale>
        <p:origin x="66" y="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8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FA299E7-DE88-403A-8E5A-27A343AEC99D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464A9D5-47F1-481D-866C-5B157D120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357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64A9D5-47F1-481D-866C-5B157D12005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63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D54D8-B67B-4275-A9C1-99F25EA61FDB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7D5CB-9545-48EB-8EA3-25D6D05D25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9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1413A-9E97-4472-89F8-2B22B1BBF213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821A7-27AC-4654-B758-C213AEBB65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54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FB51D-33F4-4A88-9B13-33F174F518B0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C37D6-CB9A-48FD-86B0-250F3040AC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22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8A298-747E-426E-9B11-517F484AF7AB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11F70-82E3-4526-9B9D-8D684EC15B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62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C6070-61D1-4F55-9184-5C49EA088D0E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750ABB-E581-47FA-8E72-634F6BAED4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4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5638D7-6DC3-40A7-8940-503ED03D6B8E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87873-D63B-401E-8821-1E37F9A60E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1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226A4-B990-403B-AABF-41F78CF72FA2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AA010-0DCB-4A2A-9702-501F43C404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14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4990E-55CE-4458-8A61-594D594D87D5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C0181-8105-4C61-9EA0-5194BCB4F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1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8BEDA-00FF-4F6B-93E3-84D1CA2241CE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063D3-8220-4E89-B970-4C5E37C7C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8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C3CC5-5A94-468B-A0ED-D2C1993931E2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0A134-423B-4A35-9C5C-680C66B8B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75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D75CB9-3A44-4F51-8780-5823C631C0BA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7E604-6A67-409A-83C3-8734523D0C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5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B7EE512-8289-4819-B7CA-9DA6A8C95B61}" type="datetimeFigureOut">
              <a:rPr lang="en-US"/>
              <a:pPr>
                <a:defRPr/>
              </a:pPr>
              <a:t>Monday, March 23,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8930E1D-A0EE-49BC-BA10-BD814D3F89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udy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udy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udy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udy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D7DD428-D378-464F-8C3F-4FC80157D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887200" y="-13030200"/>
            <a:ext cx="32918400" cy="329184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137160" y="2514600"/>
            <a:ext cx="886968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oudy Old Style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oudy Old Style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oudy Old Style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oudy Old Style" pitchFamily="18" charset="0"/>
              </a:defRPr>
            </a:lvl9pPr>
          </a:lstStyle>
          <a:p>
            <a:pPr eaLnBrk="1" hangingPunct="1"/>
            <a:r>
              <a:rPr lang="en-US" altLang="en-US" sz="8000" dirty="0"/>
              <a:t>Applied Regression</a:t>
            </a:r>
          </a:p>
        </p:txBody>
      </p:sp>
    </p:spTree>
    <p:extLst>
      <p:ext uri="{BB962C8B-B14F-4D97-AF65-F5344CB8AC3E}">
        <p14:creationId xmlns:p14="http://schemas.microsoft.com/office/powerpoint/2010/main" val="389300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8300" fill="hold"/>
                                        <p:tgtEl>
                                          <p:spTgt spid="7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667 -0.5 C 0.19878 -0.5 0.375 -0.27639 0.375 0 C 0.375 0.27569 0.19878 0.5 -0.01667 0.5 C -0.23316 0.5 -0.40833 0.27569 -0.40833 0 C -0.40833 -0.27639 -0.23316 -0.5 -0.01667 -0.5 Z " pathEditMode="relative" rAng="0" ptsTypes="AAAAA">
                                      <p:cBhvr>
                                        <p:cTn id="10" dur="11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3FAFF6C-9668-410B-80EC-9BBFAC833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 3 Thursday through Monday</a:t>
            </a:r>
          </a:p>
          <a:p>
            <a:pPr marL="457200" lvl="1" indent="0">
              <a:buNone/>
            </a:pPr>
            <a:r>
              <a:rPr lang="en-US" dirty="0"/>
              <a:t>Logistically like previous exams </a:t>
            </a:r>
          </a:p>
          <a:p>
            <a:pPr marL="457200" lvl="1" indent="0">
              <a:buNone/>
            </a:pPr>
            <a:r>
              <a:rPr lang="en-US" dirty="0"/>
              <a:t>If regression questions took similar across questions, they are</a:t>
            </a:r>
          </a:p>
          <a:p>
            <a:pPr marL="0" indent="0">
              <a:buNone/>
            </a:pP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4730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7" dur="indefinite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4" dur="indefinite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7" dur="indefinite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6FDE-AC3D-4F02-8D31-34F9BFD3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Kahan et 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97409-E220-46F2-8125-EDD0783BC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hypotheses did they test?</a:t>
            </a:r>
          </a:p>
          <a:p>
            <a:pPr marL="0" indent="0">
              <a:buNone/>
            </a:pPr>
            <a:r>
              <a:rPr lang="en-US" dirty="0"/>
              <a:t>What’s the theory behind those hypotheses?</a:t>
            </a:r>
          </a:p>
          <a:p>
            <a:pPr marL="0" indent="0">
              <a:buNone/>
            </a:pPr>
            <a:r>
              <a:rPr lang="en-US" dirty="0"/>
              <a:t>Why do they think those hypotheses matter?</a:t>
            </a:r>
          </a:p>
          <a:p>
            <a:pPr marL="0" indent="0">
              <a:buNone/>
            </a:pPr>
            <a:r>
              <a:rPr lang="en-US" dirty="0"/>
              <a:t>What data did they examine to test the hypotheses?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809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519A8D-460C-4571-BBE5-D67273AAB331}"/>
              </a:ext>
            </a:extLst>
          </p:cNvPr>
          <p:cNvSpPr txBox="1"/>
          <p:nvPr/>
        </p:nvSpPr>
        <p:spPr>
          <a:xfrm>
            <a:off x="2429907" y="324852"/>
            <a:ext cx="4284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Regression Analysis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C2351FF-F764-4323-99A4-53776D872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677400"/>
              </p:ext>
            </p:extLst>
          </p:nvPr>
        </p:nvGraphicFramePr>
        <p:xfrm>
          <a:off x="228602" y="1371600"/>
          <a:ext cx="8686797" cy="3566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86825654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4489568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15582018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0946856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40064919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48401723"/>
                    </a:ext>
                  </a:extLst>
                </a:gridCol>
                <a:gridCol w="990597">
                  <a:extLst>
                    <a:ext uri="{9D8B030D-6E8A-4147-A177-3AD203B41FA5}">
                      <a16:colId xmlns:a16="http://schemas.microsoft.com/office/drawing/2014/main" val="4085693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620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Recruitment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005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Hierarchy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3145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Individualism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012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Hierarchy x Recruitment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-0.82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597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Individualism x Recruitment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0627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(0.10)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(0.09)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0796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2000" i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3131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Δ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21.72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134046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67D9D0D-88CE-472A-8099-FB70A4F239E7}"/>
              </a:ext>
            </a:extLst>
          </p:cNvPr>
          <p:cNvSpPr txBox="1"/>
          <p:nvPr/>
        </p:nvSpPr>
        <p:spPr>
          <a:xfrm>
            <a:off x="1" y="5078577"/>
            <a:ext cx="9144000" cy="141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en-US" sz="192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196. Dependent variable is </a:t>
            </a:r>
            <a:r>
              <a:rPr lang="en-US" sz="19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Pro_Protest</a:t>
            </a:r>
            <a:r>
              <a:rPr lang="en-US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composite response-item scale transformed to a </a:t>
            </a:r>
            <a:r>
              <a:rPr lang="en-US" sz="192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-score with a mean of 0. Predictor effects are measured with unstandardized linear (or-</a:t>
            </a:r>
            <a:r>
              <a:rPr lang="en-US" sz="19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dinary</a:t>
            </a:r>
            <a:r>
              <a:rPr lang="en-US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least squares) regression coefficients. Standard errors are in parentheses. Bold type indicates that the predictor coefficient or change in </a:t>
            </a:r>
            <a:r>
              <a:rPr lang="en-US" sz="192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statistic is significant at </a:t>
            </a:r>
            <a:r>
              <a:rPr lang="en-US" sz="192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9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0.05.</a:t>
            </a:r>
            <a:endParaRPr lang="en-US" sz="192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90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Grid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ctr">
          <a:defRPr sz="3600" dirty="0" smtClean="0">
            <a:latin typeface="Franklin Gothic Medium" panose="020B06030201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</Words>
  <Application>Microsoft Office PowerPoint</Application>
  <PresentationFormat>On-screen Show (4:3)</PresentationFormat>
  <Paragraphs>54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Franklin Gothic Medium</vt:lpstr>
      <vt:lpstr>Goudy Old Style</vt:lpstr>
      <vt:lpstr>Times New Roman</vt:lpstr>
      <vt:lpstr>Office Theme</vt:lpstr>
      <vt:lpstr>PowerPoint Presentation</vt:lpstr>
      <vt:lpstr>Announcements</vt:lpstr>
      <vt:lpstr>Kahan et al.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2018-08-29T21:02:34Z</dcterms:created>
  <dcterms:modified xsi:type="dcterms:W3CDTF">2026-03-24T14:19:06Z</dcterms:modified>
</cp:coreProperties>
</file>